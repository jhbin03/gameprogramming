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3C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0:00–0:15 | 오늘은 Git이 무엇인지 짧게 보고, 명령어가 왜 존재하는지 작업 단계별로 빠르게 훑겠습니다.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0:15–0:45 | Git은 변경 이력을 로컬에 기록하고 공유할 수 있게 합니다. 핵심 존재 이유는 기록, 복구, 협업입니다. 참고: https://git-scm.com/about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0:45–1:00 | 목차는 여섯 단계입니다. 이제 각 명령어를 한 줄씩 빠르게 짚겠습니다.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1:00–1:25 | git init, git clone &lt;url&gt;, git config, git help &lt;cmd&gt;, git version 순서로 한 줄씩 설명합니다. 참고: https://git-scm.com/docs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1:25–1:55 | git status, git diff, git add &lt;file&gt;, git add ., git rm / git mv </a:t>
            </a:r>
            <a:r>
              <a:rPr dirty="0" err="1"/>
              <a:t>순서로</a:t>
            </a:r>
            <a:r>
              <a:rPr dirty="0"/>
              <a:t> 한 </a:t>
            </a:r>
            <a:r>
              <a:rPr dirty="0" err="1"/>
              <a:t>줄씩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 </a:t>
            </a:r>
            <a:r>
              <a:rPr dirty="0" err="1"/>
              <a:t>참고</a:t>
            </a:r>
            <a:r>
              <a:rPr dirty="0"/>
              <a:t>: https://git-scm.com/docs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1:55–2:25 | git commit -m "msg", git log --oneline, git show &lt;commit&gt;, git blame &lt;file&gt;, git tag &lt;name&gt; 순서로 한 줄씩 설명합니다. 참고: https://git-scm.com/docs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2:25–2:55 | git branch, git switch &lt;name&gt;, git switch -c &lt;name&gt;, git merge &lt;name&gt;, git rebase &lt;base&gt; 순서로 한 줄씩 설명합니다. 참고: https://git-scm.com/docs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2:55–3:25 | git restore &lt;file&gt;, git restore --staged, git reset &lt;commit&gt;, git revert &lt;commit&gt;, git stash </a:t>
            </a:r>
            <a:r>
              <a:rPr dirty="0" err="1"/>
              <a:t>순서로</a:t>
            </a:r>
            <a:r>
              <a:rPr dirty="0"/>
              <a:t> 한 </a:t>
            </a:r>
            <a:r>
              <a:rPr dirty="0" err="1"/>
              <a:t>줄씩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 </a:t>
            </a:r>
            <a:r>
              <a:rPr dirty="0" err="1"/>
              <a:t>참고</a:t>
            </a:r>
            <a:r>
              <a:rPr dirty="0"/>
              <a:t>: https://git-scm.com/docs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3:25–4:05 | git remote -v, git fetch, git pull, git push, git cherry-pick &lt;commit&gt; 순서로 한 줄씩 설명합니다. 참고: https://git-scm.com/docs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참고 자료: Git Reference https://git-scm.com/docs, Pro Git 2nd Edition https://git-scm.com/book/en/v2. Git 개념, 기본 작업, 브랜치 및 원격 저장소 설명. 확인일: 2026-09-17.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04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-scm.com/community/logos" TargetMode="External"/><Relationship Id="rId4" Type="http://schemas.openxmlformats.org/officeDocument/2006/relationships/hyperlink" Target="https://git-scm.com/book/en/v2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5F99CC50-5761-460B-9598-9A9F9B62E4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8EB3C47-2A81-4633-B299-0DC1376435FF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E5984D-D41E-45E3-BACA-95F557259157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266A37-9F6F-44D8-84B2-8842B37292D7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01D9B1-BDD7-4E9D-8616-1265C72CF076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98CC38-DEB9-4064-BF4D-5E20855F3418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238500" cy="247650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E9BE8D5-C129-423E-A8A8-86F6FFCA19EC}"/>
              </a:ext>
            </a:extLst>
          </p:cNvPr>
          <p:cNvSpPr>
            <a:spLocks noGrp="1"/>
          </p:cNvSpPr>
          <p:nvPr/>
        </p:nvSpPr>
        <p:spPr>
          <a:xfrm>
            <a:off x="2781300" y="4457700"/>
            <a:ext cx="361950" cy="361950"/>
          </a:xfrm>
          <a:prstGeom prst="ellipse">
            <a:avLst/>
          </a:prstGeom>
          <a:solidFill>
            <a:srgbClr val="F05032"/>
          </a:solidFill>
          <a:ln w="0">
            <a:noFill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D9893D-BF07-450D-A90B-8E016CD765AA}"/>
              </a:ext>
            </a:extLst>
          </p:cNvPr>
          <p:cNvSpPr>
            <a:spLocks noGrp="1"/>
          </p:cNvSpPr>
          <p:nvPr/>
        </p:nvSpPr>
        <p:spPr>
          <a:xfrm>
            <a:off x="1067617" y="1850707"/>
            <a:ext cx="2198098" cy="136588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F2328"/>
                </a:solidFill>
                <a:latin typeface="Georgia"/>
                <a:ea typeface="Georgia"/>
                <a:cs typeface="Georgia"/>
              </a:defRPr>
            </a:pPr>
            <a:r>
              <a:rPr sz="6600" b="1" dirty="0">
                <a:solidFill>
                  <a:srgbClr val="F03C2E"/>
                </a:solidFill>
                <a:latin typeface="Georgia"/>
                <a:ea typeface="Georgia"/>
                <a:cs typeface="Georgia"/>
              </a:rPr>
              <a:t>Git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F6C62D-F468-4326-9CE3-B11ED73CF5F9}"/>
              </a:ext>
            </a:extLst>
          </p:cNvPr>
          <p:cNvSpPr>
            <a:spLocks noGrp="1"/>
          </p:cNvSpPr>
          <p:nvPr/>
        </p:nvSpPr>
        <p:spPr>
          <a:xfrm>
            <a:off x="2552157" y="2238375"/>
            <a:ext cx="2381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VERSION</a:t>
            </a:r>
          </a:p>
          <a:p>
            <a:pPr algn="l">
              <a:defRPr sz="21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    </a:t>
            </a:r>
            <a:r>
              <a:rPr sz="21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34BEB9-8628-4FB4-B151-78A1B83467DC}"/>
              </a:ext>
            </a:extLst>
          </p:cNvPr>
          <p:cNvSpPr>
            <a:spLocks noGrp="1"/>
          </p:cNvSpPr>
          <p:nvPr/>
        </p:nvSpPr>
        <p:spPr>
          <a:xfrm>
            <a:off x="1381125" y="3105149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4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명령어와</a:t>
            </a:r>
            <a:r>
              <a:rPr sz="1600" b="1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존재</a:t>
            </a:r>
            <a:r>
              <a:rPr sz="1600" b="1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이유</a:t>
            </a:r>
            <a:endParaRPr sz="1600" b="1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14BF30-8300-4635-B598-E49BE44F8052}"/>
              </a:ext>
            </a:extLst>
          </p:cNvPr>
          <p:cNvSpPr>
            <a:spLocks noGrp="1"/>
          </p:cNvSpPr>
          <p:nvPr/>
        </p:nvSpPr>
        <p:spPr>
          <a:xfrm>
            <a:off x="1840367" y="3388043"/>
            <a:ext cx="3804829" cy="6115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87"/>
          </a:bodyPr>
          <a:lstStyle/>
          <a:p>
            <a:pPr algn="l">
              <a:defRPr sz="9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lang="ko-KR" altLang="en-US" sz="14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소프트웨어학과 </a:t>
            </a:r>
            <a:r>
              <a:rPr lang="en-US" altLang="ko-KR" sz="14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22</a:t>
            </a:r>
            <a:r>
              <a:rPr lang="ko-KR" altLang="en-US" sz="14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학번 </a:t>
            </a:r>
            <a:r>
              <a:rPr lang="ko-KR" altLang="en-US" sz="1400" b="1" dirty="0" err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정현빈</a:t>
            </a:r>
            <a:endParaRPr sz="1400" b="1" dirty="0">
              <a:solidFill>
                <a:srgbClr val="F0503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79E25A-F08A-4865-ABD3-6DBE432636BC}"/>
              </a:ext>
            </a:extLst>
          </p:cNvPr>
          <p:cNvSpPr>
            <a:spLocks noGrp="1"/>
          </p:cNvSpPr>
          <p:nvPr/>
        </p:nvSpPr>
        <p:spPr>
          <a:xfrm>
            <a:off x="7810500" y="58102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r">
              <a:defRPr sz="112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소프트웨어학과</a:t>
            </a:r>
            <a:r>
              <a:rPr sz="1125" b="1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· Git </a:t>
            </a:r>
            <a:r>
              <a:rPr sz="1125" b="1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발표</a:t>
            </a:r>
            <a:endParaRPr sz="1125" b="1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95F7CF5-D454-F1BB-042F-DC63D691F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354" y="1295877"/>
            <a:ext cx="1564003" cy="156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2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F0EDEF52-0871-4B3B-85DB-EC4AAC765F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AB0EF88-FC6D-4DF7-AFB6-4E57C8E6A5D1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D07751-8993-42C5-8532-22848030352E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E131D6-E5A6-49A4-A979-F97C13CFC328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A13720-E927-4E18-880C-213F786E84F1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B7EAF9-2EB4-4117-B705-9E239B43AFCF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INTRO.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AE0AA7-DC57-43F8-85E7-74AD484C91FA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Git이란</a:t>
            </a:r>
            <a:r>
              <a:rPr sz="27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0EE922-7D27-42D4-A418-0241647CE7A9}"/>
              </a:ext>
            </a:extLst>
          </p:cNvPr>
          <p:cNvSpPr>
            <a:spLocks noGrp="1"/>
          </p:cNvSpPr>
          <p:nvPr/>
        </p:nvSpPr>
        <p:spPr>
          <a:xfrm>
            <a:off x="579726" y="1466594"/>
            <a:ext cx="9048750" cy="42862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* 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‘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변경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과정’을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기록하는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분산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버전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관리</a:t>
            </a:r>
            <a:r>
              <a:rPr sz="16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16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4C21D20-582F-4A42-A74C-F57C377DD55B}"/>
              </a:ext>
            </a:extLst>
          </p:cNvPr>
          <p:cNvSpPr>
            <a:spLocks noGrp="1"/>
          </p:cNvSpPr>
          <p:nvPr/>
        </p:nvSpPr>
        <p:spPr>
          <a:xfrm>
            <a:off x="800100" y="2938462"/>
            <a:ext cx="1981200" cy="1981200"/>
          </a:xfrm>
          <a:prstGeom prst="ellipse">
            <a:avLst/>
          </a:prstGeom>
          <a:noFill/>
          <a:ln w="9525">
            <a:solidFill>
              <a:srgbClr val="F05032"/>
            </a:solidFill>
          </a:ln>
        </p:spPr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59BA7F2-75B2-4F39-8BBA-05E523006ADD}"/>
              </a:ext>
            </a:extLst>
          </p:cNvPr>
          <p:cNvSpPr>
            <a:spLocks noGrp="1"/>
          </p:cNvSpPr>
          <p:nvPr/>
        </p:nvSpPr>
        <p:spPr>
          <a:xfrm>
            <a:off x="1143507" y="3281870"/>
            <a:ext cx="1294384" cy="1294384"/>
          </a:xfrm>
          <a:prstGeom prst="ellipse">
            <a:avLst/>
          </a:prstGeom>
          <a:solidFill>
            <a:srgbClr val="FFD8CE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A124621-E7FE-4DED-ACFF-18AC8A577010}"/>
              </a:ext>
            </a:extLst>
          </p:cNvPr>
          <p:cNvSpPr>
            <a:spLocks noGrp="1"/>
          </p:cNvSpPr>
          <p:nvPr/>
        </p:nvSpPr>
        <p:spPr>
          <a:xfrm>
            <a:off x="3905250" y="2344325"/>
            <a:ext cx="6667500" cy="666750"/>
          </a:xfrm>
          <a:prstGeom prst="roundRect">
            <a:avLst>
              <a:gd name="adj" fmla="val 11429"/>
            </a:avLst>
          </a:prstGeom>
          <a:solidFill>
            <a:srgbClr val="FFD8CE"/>
          </a:solidFill>
          <a:ln w="9525">
            <a:solidFill>
              <a:srgbClr val="D7DADF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16AE80-A3E0-4800-ADDF-88E53F8EF470}"/>
              </a:ext>
            </a:extLst>
          </p:cNvPr>
          <p:cNvSpPr>
            <a:spLocks noGrp="1"/>
          </p:cNvSpPr>
          <p:nvPr/>
        </p:nvSpPr>
        <p:spPr>
          <a:xfrm>
            <a:off x="4143375" y="2496725"/>
            <a:ext cx="1000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기</a:t>
            </a:r>
            <a:r>
              <a:rPr lang="ko-KR" altLang="en-US" sz="15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록</a:t>
            </a:r>
            <a:endParaRPr sz="1500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BF4842-D1A5-4835-8F88-EEB751D12E39}"/>
              </a:ext>
            </a:extLst>
          </p:cNvPr>
          <p:cNvSpPr>
            <a:spLocks noGrp="1"/>
          </p:cNvSpPr>
          <p:nvPr/>
        </p:nvSpPr>
        <p:spPr>
          <a:xfrm>
            <a:off x="5286375" y="249672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누가·언제·무엇을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바꿨는지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남긴다</a:t>
            </a:r>
            <a:endParaRPr sz="1275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1A13496-99C9-4CFF-B458-CBC4B0B9350F}"/>
              </a:ext>
            </a:extLst>
          </p:cNvPr>
          <p:cNvSpPr>
            <a:spLocks noGrp="1"/>
          </p:cNvSpPr>
          <p:nvPr/>
        </p:nvSpPr>
        <p:spPr>
          <a:xfrm>
            <a:off x="3905250" y="3220625"/>
            <a:ext cx="666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ADF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4B2747-2BF6-4510-8795-0810CA857EBA}"/>
              </a:ext>
            </a:extLst>
          </p:cNvPr>
          <p:cNvSpPr>
            <a:spLocks noGrp="1"/>
          </p:cNvSpPr>
          <p:nvPr/>
        </p:nvSpPr>
        <p:spPr>
          <a:xfrm>
            <a:off x="4143375" y="3373025"/>
            <a:ext cx="1000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복구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D863F9-66BD-4F77-BF11-726F7F153B62}"/>
              </a:ext>
            </a:extLst>
          </p:cNvPr>
          <p:cNvSpPr>
            <a:spLocks noGrp="1"/>
          </p:cNvSpPr>
          <p:nvPr/>
        </p:nvSpPr>
        <p:spPr>
          <a:xfrm>
            <a:off x="5286375" y="337302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문제가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생기면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이전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상태로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돌아간다</a:t>
            </a:r>
            <a:endParaRPr sz="1275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802B993-BED6-46D5-85EC-E8BDC8B54D4F}"/>
              </a:ext>
            </a:extLst>
          </p:cNvPr>
          <p:cNvSpPr>
            <a:spLocks noGrp="1"/>
          </p:cNvSpPr>
          <p:nvPr/>
        </p:nvSpPr>
        <p:spPr>
          <a:xfrm>
            <a:off x="3905250" y="4096925"/>
            <a:ext cx="666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ADF"/>
            </a:solidFill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5069E9D-5C56-FBD3-0A58-D612649652F4}"/>
              </a:ext>
            </a:extLst>
          </p:cNvPr>
          <p:cNvSpPr>
            <a:spLocks noGrp="1"/>
          </p:cNvSpPr>
          <p:nvPr/>
        </p:nvSpPr>
        <p:spPr>
          <a:xfrm>
            <a:off x="3905250" y="4096925"/>
            <a:ext cx="6667500" cy="666750"/>
          </a:xfrm>
          <a:prstGeom prst="roundRect">
            <a:avLst>
              <a:gd name="adj" fmla="val 11429"/>
            </a:avLst>
          </a:prstGeom>
          <a:solidFill>
            <a:srgbClr val="FFD8CE"/>
          </a:solidFill>
          <a:ln w="9525">
            <a:solidFill>
              <a:srgbClr val="D7DADF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20E4A6-71DD-4F4B-9204-4CF8F3A02E10}"/>
              </a:ext>
            </a:extLst>
          </p:cNvPr>
          <p:cNvSpPr>
            <a:spLocks noGrp="1"/>
          </p:cNvSpPr>
          <p:nvPr/>
        </p:nvSpPr>
        <p:spPr>
          <a:xfrm>
            <a:off x="4143375" y="4249325"/>
            <a:ext cx="1000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협업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723846-F048-456B-A971-1D6280858EC4}"/>
              </a:ext>
            </a:extLst>
          </p:cNvPr>
          <p:cNvSpPr>
            <a:spLocks noGrp="1"/>
          </p:cNvSpPr>
          <p:nvPr/>
        </p:nvSpPr>
        <p:spPr>
          <a:xfrm>
            <a:off x="5286375" y="424932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각자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작업한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변경을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비교하고</a:t>
            </a:r>
            <a:r>
              <a:rPr sz="1275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합친다</a:t>
            </a:r>
            <a:endParaRPr sz="1275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1FE987A-1135-BE66-86E4-E8444C1A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18" y="3698431"/>
            <a:ext cx="1099563" cy="461262"/>
          </a:xfrm>
          <a:prstGeom prst="rect">
            <a:avLst/>
          </a:prstGeom>
        </p:spPr>
      </p:pic>
      <p:sp>
        <p:nvSpPr>
          <p:cNvPr id="25" name="Shape 9">
            <a:extLst>
              <a:ext uri="{FF2B5EF4-FFF2-40B4-BE49-F238E27FC236}">
                <a16:creationId xmlns:a16="http://schemas.microsoft.com/office/drawing/2014/main" id="{D8EC3D62-D694-F11C-E702-7DB52445D5D5}"/>
              </a:ext>
            </a:extLst>
          </p:cNvPr>
          <p:cNvSpPr/>
          <p:nvPr/>
        </p:nvSpPr>
        <p:spPr>
          <a:xfrm>
            <a:off x="4252722" y="5529494"/>
            <a:ext cx="6327648" cy="0"/>
          </a:xfrm>
          <a:prstGeom prst="line">
            <a:avLst/>
          </a:prstGeom>
          <a:noFill/>
          <a:ln w="27940">
            <a:solidFill>
              <a:srgbClr val="C7CDD5"/>
            </a:solidFill>
            <a:prstDash val="solid"/>
            <a:headEnd type="none"/>
            <a:tailEnd type="triangle"/>
          </a:ln>
        </p:spPr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99178C0F-AB8F-E2CE-FAF6-9D9EE8638600}"/>
              </a:ext>
            </a:extLst>
          </p:cNvPr>
          <p:cNvSpPr/>
          <p:nvPr/>
        </p:nvSpPr>
        <p:spPr>
          <a:xfrm>
            <a:off x="3905250" y="5145446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09685022-EC05-CA8D-4A2C-A1C4489F6657}"/>
              </a:ext>
            </a:extLst>
          </p:cNvPr>
          <p:cNvSpPr/>
          <p:nvPr/>
        </p:nvSpPr>
        <p:spPr>
          <a:xfrm>
            <a:off x="4078986" y="538319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</a:t>
            </a:r>
            <a:endParaRPr lang="en-US" sz="95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8AFCFC00-3F51-37F3-2047-DDF6F7CAD66D}"/>
              </a:ext>
            </a:extLst>
          </p:cNvPr>
          <p:cNvSpPr/>
          <p:nvPr/>
        </p:nvSpPr>
        <p:spPr>
          <a:xfrm>
            <a:off x="3740658" y="607813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변경</a:t>
            </a:r>
            <a:endParaRPr lang="en-US" sz="16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26AFAF1B-CFF6-56F3-9BD5-B12C065D47E9}"/>
              </a:ext>
            </a:extLst>
          </p:cNvPr>
          <p:cNvSpPr/>
          <p:nvPr/>
        </p:nvSpPr>
        <p:spPr>
          <a:xfrm>
            <a:off x="3576066" y="642560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코드를 수정한다</a:t>
            </a:r>
            <a:endParaRPr lang="en-US" sz="108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E41E5E34-FC6A-A46D-461C-EB0266DB6960}"/>
              </a:ext>
            </a:extLst>
          </p:cNvPr>
          <p:cNvSpPr/>
          <p:nvPr/>
        </p:nvSpPr>
        <p:spPr>
          <a:xfrm>
            <a:off x="5779770" y="5145446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D8A75E8A-D9A8-1F8C-6EC4-59B1FF0CDD6F}"/>
              </a:ext>
            </a:extLst>
          </p:cNvPr>
          <p:cNvSpPr/>
          <p:nvPr/>
        </p:nvSpPr>
        <p:spPr>
          <a:xfrm>
            <a:off x="5953506" y="538319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02</a:t>
            </a:r>
            <a:endParaRPr lang="en-US" sz="95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7AC9E53A-22EE-9B2E-5C3F-0A3120ECBC18}"/>
              </a:ext>
            </a:extLst>
          </p:cNvPr>
          <p:cNvSpPr/>
          <p:nvPr/>
        </p:nvSpPr>
        <p:spPr>
          <a:xfrm>
            <a:off x="5615178" y="607813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기록</a:t>
            </a:r>
            <a:endParaRPr lang="en-US" sz="16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1C6170EB-1932-88E6-C633-581D2068BD46}"/>
              </a:ext>
            </a:extLst>
          </p:cNvPr>
          <p:cNvSpPr/>
          <p:nvPr/>
        </p:nvSpPr>
        <p:spPr>
          <a:xfrm>
            <a:off x="5450586" y="642560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Commit으로 남긴다</a:t>
            </a:r>
            <a:endParaRPr lang="en-US" sz="108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516DC42C-90F6-A0E9-5EE5-5CA103741C05}"/>
              </a:ext>
            </a:extLst>
          </p:cNvPr>
          <p:cNvSpPr/>
          <p:nvPr/>
        </p:nvSpPr>
        <p:spPr>
          <a:xfrm>
            <a:off x="7654290" y="5145446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285861DB-029A-4C20-76FC-E452F91E5223}"/>
              </a:ext>
            </a:extLst>
          </p:cNvPr>
          <p:cNvSpPr/>
          <p:nvPr/>
        </p:nvSpPr>
        <p:spPr>
          <a:xfrm>
            <a:off x="7828026" y="538319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03</a:t>
            </a:r>
            <a:endParaRPr lang="en-US" sz="95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520B3746-9E22-0ECA-9D93-10DAD7627815}"/>
              </a:ext>
            </a:extLst>
          </p:cNvPr>
          <p:cNvSpPr/>
          <p:nvPr/>
        </p:nvSpPr>
        <p:spPr>
          <a:xfrm>
            <a:off x="7489698" y="607813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관리</a:t>
            </a:r>
            <a:endParaRPr lang="en-US" sz="16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5A27084E-F0DB-91BF-2337-B7E30E29F847}"/>
              </a:ext>
            </a:extLst>
          </p:cNvPr>
          <p:cNvSpPr/>
          <p:nvPr/>
        </p:nvSpPr>
        <p:spPr>
          <a:xfrm>
            <a:off x="7325106" y="642560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비교·분리·복구한다</a:t>
            </a:r>
            <a:endParaRPr lang="en-US" sz="108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527DC9E8-DEAC-C5EB-A762-542E1C6CC2E4}"/>
              </a:ext>
            </a:extLst>
          </p:cNvPr>
          <p:cNvSpPr/>
          <p:nvPr/>
        </p:nvSpPr>
        <p:spPr>
          <a:xfrm>
            <a:off x="9528810" y="5145446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4F5A9EBB-DD14-4BA8-98E5-E5968A148AAC}"/>
              </a:ext>
            </a:extLst>
          </p:cNvPr>
          <p:cNvSpPr/>
          <p:nvPr/>
        </p:nvSpPr>
        <p:spPr>
          <a:xfrm>
            <a:off x="9702546" y="538319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04</a:t>
            </a:r>
            <a:endParaRPr lang="en-US" sz="95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8CA27A20-4810-764C-D041-F57E332F8DA1}"/>
              </a:ext>
            </a:extLst>
          </p:cNvPr>
          <p:cNvSpPr/>
          <p:nvPr/>
        </p:nvSpPr>
        <p:spPr>
          <a:xfrm>
            <a:off x="9364218" y="607813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공유</a:t>
            </a:r>
            <a:endParaRPr lang="en-US" sz="1600" dirty="0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8955F3CD-D30E-44C6-8853-20EF81426A44}"/>
              </a:ext>
            </a:extLst>
          </p:cNvPr>
          <p:cNvSpPr/>
          <p:nvPr/>
        </p:nvSpPr>
        <p:spPr>
          <a:xfrm>
            <a:off x="9199626" y="642560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원격 저장소와 협업한다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58099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402DD548-AD3C-48FB-9894-DBC5FC0EA5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7EC007C2-37B3-40B2-8A38-D2619B296F4E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1C5688-FB48-449C-9841-076648789BD1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FE3B93-DE67-4174-B884-2D2EE520D903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1078FD-F539-4FFE-B4AB-768DB1B5C566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FEBCEC-E313-4139-A3AD-ECCC2BBB10C7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INDEX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83C857-67DC-41AE-AA62-F98961463D35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발표 순서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EE485-5617-4518-AC6B-9E77CC5A83CE}"/>
              </a:ext>
            </a:extLst>
          </p:cNvPr>
          <p:cNvSpPr>
            <a:spLocks noGrp="1"/>
          </p:cNvSpPr>
          <p:nvPr/>
        </p:nvSpPr>
        <p:spPr>
          <a:xfrm>
            <a:off x="4095750" y="2333625"/>
            <a:ext cx="523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62BBAA-C69D-4C33-8FC3-2CA613EC127B}"/>
              </a:ext>
            </a:extLst>
          </p:cNvPr>
          <p:cNvSpPr>
            <a:spLocks noGrp="1"/>
          </p:cNvSpPr>
          <p:nvPr/>
        </p:nvSpPr>
        <p:spPr>
          <a:xfrm>
            <a:off x="4714875" y="2333625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시작·환경 설정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FFD5EFDA-F5BF-471C-A9A5-996DC1DCB5E9}"/>
              </a:ext>
            </a:extLst>
          </p:cNvPr>
          <p:cNvSpPr>
            <a:spLocks noGrp="1"/>
          </p:cNvSpPr>
          <p:nvPr/>
        </p:nvSpPr>
        <p:spPr>
          <a:xfrm>
            <a:off x="4095750" y="2905125"/>
            <a:ext cx="3000375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7E80C9-EDF8-483F-AE8F-284D3C523C7D}"/>
              </a:ext>
            </a:extLst>
          </p:cNvPr>
          <p:cNvSpPr>
            <a:spLocks noGrp="1"/>
          </p:cNvSpPr>
          <p:nvPr/>
        </p:nvSpPr>
        <p:spPr>
          <a:xfrm>
            <a:off x="7524750" y="2333625"/>
            <a:ext cx="523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45E368-CCAA-443E-8F6C-24E3FD4D0F04}"/>
              </a:ext>
            </a:extLst>
          </p:cNvPr>
          <p:cNvSpPr>
            <a:spLocks noGrp="1"/>
          </p:cNvSpPr>
          <p:nvPr/>
        </p:nvSpPr>
        <p:spPr>
          <a:xfrm>
            <a:off x="8143875" y="2333625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변경 확인·Staging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F13F24A0-18E8-45AF-B314-319E8D3EE5FD}"/>
              </a:ext>
            </a:extLst>
          </p:cNvPr>
          <p:cNvSpPr>
            <a:spLocks noGrp="1"/>
          </p:cNvSpPr>
          <p:nvPr/>
        </p:nvSpPr>
        <p:spPr>
          <a:xfrm>
            <a:off x="7524750" y="2905125"/>
            <a:ext cx="3000375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1CFE5E-9D61-4772-B922-E4633852BD93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523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DFE0BD-6DF7-44A9-A2FB-5CF4F3A887D4}"/>
              </a:ext>
            </a:extLst>
          </p:cNvPr>
          <p:cNvSpPr>
            <a:spLocks noGrp="1"/>
          </p:cNvSpPr>
          <p:nvPr/>
        </p:nvSpPr>
        <p:spPr>
          <a:xfrm>
            <a:off x="4714875" y="3333750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Commit·이력 조회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671B4FE3-6AE1-40C5-8447-689DB6341B82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3000375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8CD832-4D48-4874-9D1F-0120A8DEB5C1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523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A4916F-0132-4C31-9E37-9D4BB15FA95B}"/>
              </a:ext>
            </a:extLst>
          </p:cNvPr>
          <p:cNvSpPr>
            <a:spLocks noGrp="1"/>
          </p:cNvSpPr>
          <p:nvPr/>
        </p:nvSpPr>
        <p:spPr>
          <a:xfrm>
            <a:off x="8143875" y="3333750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Branch·병합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F45F077C-9991-45F6-8B77-7DD2333EC7BF}"/>
              </a:ext>
            </a:extLst>
          </p:cNvPr>
          <p:cNvSpPr>
            <a:spLocks noGrp="1"/>
          </p:cNvSpPr>
          <p:nvPr/>
        </p:nvSpPr>
        <p:spPr>
          <a:xfrm>
            <a:off x="7524750" y="3905250"/>
            <a:ext cx="3000375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B8100A-4EA8-4EB7-AED3-71B95246CBE4}"/>
              </a:ext>
            </a:extLst>
          </p:cNvPr>
          <p:cNvSpPr>
            <a:spLocks noGrp="1"/>
          </p:cNvSpPr>
          <p:nvPr/>
        </p:nvSpPr>
        <p:spPr>
          <a:xfrm>
            <a:off x="4095750" y="4333875"/>
            <a:ext cx="523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46B23D-E3C8-4D37-8361-E6BA2DE9B6F4}"/>
              </a:ext>
            </a:extLst>
          </p:cNvPr>
          <p:cNvSpPr>
            <a:spLocks noGrp="1"/>
          </p:cNvSpPr>
          <p:nvPr/>
        </p:nvSpPr>
        <p:spPr>
          <a:xfrm>
            <a:off x="4714875" y="4333875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취소·복구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8C11EA6D-A68A-4E33-9ECC-837BE7A97938}"/>
              </a:ext>
            </a:extLst>
          </p:cNvPr>
          <p:cNvSpPr>
            <a:spLocks noGrp="1"/>
          </p:cNvSpPr>
          <p:nvPr/>
        </p:nvSpPr>
        <p:spPr>
          <a:xfrm>
            <a:off x="4095750" y="4905375"/>
            <a:ext cx="3000375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31FEE4-20DE-47FB-900E-7D1CEA123E1D}"/>
              </a:ext>
            </a:extLst>
          </p:cNvPr>
          <p:cNvSpPr>
            <a:spLocks noGrp="1"/>
          </p:cNvSpPr>
          <p:nvPr/>
        </p:nvSpPr>
        <p:spPr>
          <a:xfrm>
            <a:off x="7524750" y="4333875"/>
            <a:ext cx="523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2AA8DB-A4A2-4546-821F-093C593C51D4}"/>
              </a:ext>
            </a:extLst>
          </p:cNvPr>
          <p:cNvSpPr>
            <a:spLocks noGrp="1"/>
          </p:cNvSpPr>
          <p:nvPr/>
        </p:nvSpPr>
        <p:spPr>
          <a:xfrm>
            <a:off x="8143875" y="4333875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Remote·협업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E2CA1AC5-FBD4-4C41-A862-710CFC5DD3DF}"/>
              </a:ext>
            </a:extLst>
          </p:cNvPr>
          <p:cNvSpPr>
            <a:spLocks noGrp="1"/>
          </p:cNvSpPr>
          <p:nvPr/>
        </p:nvSpPr>
        <p:spPr>
          <a:xfrm>
            <a:off x="7524750" y="4905375"/>
            <a:ext cx="3000375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48BA1A3-CF13-4270-B4DF-A79F0EA9ED07}"/>
              </a:ext>
            </a:extLst>
          </p:cNvPr>
          <p:cNvSpPr>
            <a:spLocks noGrp="1"/>
          </p:cNvSpPr>
          <p:nvPr/>
        </p:nvSpPr>
        <p:spPr>
          <a:xfrm>
            <a:off x="1476375" y="285750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BB4D60-31FB-4FE3-B997-831F2A70AFAF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1371600" cy="9525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29218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068C90A1-D096-4E3E-8B59-7DA2887CF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89D97914-3241-4DCB-A65E-94398947432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4801DF-518D-47BC-81FB-576075841F30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3BE5C2-AF01-4168-AE9A-68ABE27209CF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3D0F28-C5DA-4CF6-93B4-7C3BD3F8C677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93171A-4240-4FD5-8124-1C5D08C8C859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01 / SETUP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2F3B48-2E06-4B35-B127-565CCE595013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시작과 환경 설정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AD133D-CD20-4DBD-8986-6997C273650D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Git</a:t>
            </a:r>
            <a:r>
              <a:rPr lang="ko-KR" altLang="en-US"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을 쓰기 위한 초기 설정 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35A9CE3-593E-4AED-A46D-2B7810C081B6}"/>
              </a:ext>
            </a:extLst>
          </p:cNvPr>
          <p:cNvSpPr>
            <a:spLocks noGrp="1"/>
          </p:cNvSpPr>
          <p:nvPr/>
        </p:nvSpPr>
        <p:spPr>
          <a:xfrm>
            <a:off x="3476625" y="204787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D8CE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D599CA-D9FC-450E-92A4-4CA10CC16B0D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명령어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79258B-68BA-48A2-8270-939CC3BBFBB0}"/>
              </a:ext>
            </a:extLst>
          </p:cNvPr>
          <p:cNvSpPr>
            <a:spLocks noGrp="1"/>
          </p:cNvSpPr>
          <p:nvPr/>
        </p:nvSpPr>
        <p:spPr>
          <a:xfrm>
            <a:off x="6905625" y="21431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역할</a:t>
            </a:r>
            <a:endParaRPr sz="1425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5309B8-5757-41BA-887D-B9E330AF09E7}"/>
              </a:ext>
            </a:extLst>
          </p:cNvPr>
          <p:cNvSpPr>
            <a:spLocks noGrp="1"/>
          </p:cNvSpPr>
          <p:nvPr/>
        </p:nvSpPr>
        <p:spPr>
          <a:xfrm>
            <a:off x="3476625" y="26479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B4F44D-68C1-494A-BAEB-77BC8F7A948B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init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6EAD93-8A13-4558-A59F-D0670B234094}"/>
              </a:ext>
            </a:extLst>
          </p:cNvPr>
          <p:cNvSpPr>
            <a:spLocks noGrp="1"/>
          </p:cNvSpPr>
          <p:nvPr/>
        </p:nvSpPr>
        <p:spPr>
          <a:xfrm>
            <a:off x="6905625" y="27622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현재 폴더를 새 Local Repository로 만든다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2BC862F-BA37-4EB4-85F5-D5B8DE2063B4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20CF09-DB73-4FD3-B473-BFB536C4FB23}"/>
              </a:ext>
            </a:extLst>
          </p:cNvPr>
          <p:cNvSpPr>
            <a:spLocks noGrp="1"/>
          </p:cNvSpPr>
          <p:nvPr/>
        </p:nvSpPr>
        <p:spPr>
          <a:xfrm>
            <a:off x="3714750" y="340042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clone &lt;url&gt;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59ACDA-1F19-4F42-A04C-2326ACC92A52}"/>
              </a:ext>
            </a:extLst>
          </p:cNvPr>
          <p:cNvSpPr>
            <a:spLocks noGrp="1"/>
          </p:cNvSpPr>
          <p:nvPr/>
        </p:nvSpPr>
        <p:spPr>
          <a:xfrm>
            <a:off x="6905625" y="340042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Remote Repository를 복제해 시작한다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3DA4A1-7749-4048-A519-D669A401751C}"/>
              </a:ext>
            </a:extLst>
          </p:cNvPr>
          <p:cNvSpPr>
            <a:spLocks noGrp="1"/>
          </p:cNvSpPr>
          <p:nvPr/>
        </p:nvSpPr>
        <p:spPr>
          <a:xfrm>
            <a:off x="3476625" y="392430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BD1B42-487F-4821-9C96-F4962846C561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config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BD003D-A886-445C-B974-1F125D2019D2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사용자 정보와 Git 동작 옵션을 설정한다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6B1155-A762-4C4F-8EA5-C9026CF09049}"/>
              </a:ext>
            </a:extLst>
          </p:cNvPr>
          <p:cNvSpPr>
            <a:spLocks noGrp="1"/>
          </p:cNvSpPr>
          <p:nvPr/>
        </p:nvSpPr>
        <p:spPr>
          <a:xfrm>
            <a:off x="3476625" y="456247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50D490-C52F-4C50-9648-2778F8EF90ED}"/>
              </a:ext>
            </a:extLst>
          </p:cNvPr>
          <p:cNvSpPr>
            <a:spLocks noGrp="1"/>
          </p:cNvSpPr>
          <p:nvPr/>
        </p:nvSpPr>
        <p:spPr>
          <a:xfrm>
            <a:off x="3714750" y="46767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help &lt;cmd&gt;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A2C48F3-9E6C-4817-9C0B-6234B90F6C60}"/>
              </a:ext>
            </a:extLst>
          </p:cNvPr>
          <p:cNvSpPr>
            <a:spLocks noGrp="1"/>
          </p:cNvSpPr>
          <p:nvPr/>
        </p:nvSpPr>
        <p:spPr>
          <a:xfrm>
            <a:off x="6905625" y="467677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명령어 사용법과 옵션을 확인한다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E68334-2175-4129-A515-FEADF4D42012}"/>
              </a:ext>
            </a:extLst>
          </p:cNvPr>
          <p:cNvSpPr>
            <a:spLocks noGrp="1"/>
          </p:cNvSpPr>
          <p:nvPr/>
        </p:nvSpPr>
        <p:spPr>
          <a:xfrm>
            <a:off x="3476625" y="52006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D27CA2-4CB2-483B-A329-4503566BF8BD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remote -v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958572-8229-4D79-9F2D-076AF2ED07E7}"/>
              </a:ext>
            </a:extLst>
          </p:cNvPr>
          <p:cNvSpPr>
            <a:spLocks noGrp="1"/>
          </p:cNvSpPr>
          <p:nvPr/>
        </p:nvSpPr>
        <p:spPr>
          <a:xfrm>
            <a:off x="6905625" y="53149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연결된 Remote 이름과 주소를 확인한다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B5BBDC-FDF8-475F-B449-F01FD04D0040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4312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저장소를 만들고 Git이 기록할 사용자 정보를 정합니다.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BBE0B10E-7DF1-B400-60B5-30A9D07B8923}"/>
              </a:ext>
            </a:extLst>
          </p:cNvPr>
          <p:cNvSpPr>
            <a:spLocks noGrp="1"/>
          </p:cNvSpPr>
          <p:nvPr/>
        </p:nvSpPr>
        <p:spPr>
          <a:xfrm>
            <a:off x="5895975" y="2047875"/>
            <a:ext cx="41080" cy="37338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</p:spTree>
    <p:extLst>
      <p:ext uri="{BB962C8B-B14F-4D97-AF65-F5344CB8AC3E}">
        <p14:creationId xmlns:p14="http://schemas.microsoft.com/office/powerpoint/2010/main" val="117284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F5DE2A1C-E5BE-4441-B906-1275B528F6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D999BEB-DF9F-4041-B7CC-75335A3464F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268236-8FC7-42FA-A130-94C22A2C183C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A97E77-387F-4054-9C0D-BC033FBA0678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57A233-BE7F-4EB7-87A3-5C0D80902EE7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CAE838-6BBE-49AD-9A22-8E3F510F544B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02 / TRACK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21CE7C-A5FE-4855-B827-617D01591EAB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변경</a:t>
            </a:r>
            <a:r>
              <a:rPr sz="27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확인과</a:t>
            </a:r>
            <a:r>
              <a:rPr sz="27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 Staging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5773D5-3C5C-4F55-96A4-76437EEF30EC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70929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파일 변경을 </a:t>
            </a:r>
            <a:r>
              <a:rPr lang="ko-KR" altLang="ko-KR" sz="1200" dirty="0" err="1">
                <a:solidFill>
                  <a:srgbClr val="4B5563"/>
                </a:solidFill>
                <a:latin typeface="Malgun Gothic"/>
              </a:rPr>
              <a:t>Git이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 추적하고 저장하도록 만드는 단계</a:t>
            </a:r>
            <a:endParaRPr sz="12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296BCB0-E436-4A90-91D3-1C160962A380}"/>
              </a:ext>
            </a:extLst>
          </p:cNvPr>
          <p:cNvSpPr>
            <a:spLocks noGrp="1"/>
          </p:cNvSpPr>
          <p:nvPr/>
        </p:nvSpPr>
        <p:spPr>
          <a:xfrm>
            <a:off x="3476625" y="204787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D8CE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86A7F6-B4CF-49E0-B537-C2C90E3C6CA4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명령어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587C07-B899-4C23-856D-674361B98358}"/>
              </a:ext>
            </a:extLst>
          </p:cNvPr>
          <p:cNvSpPr>
            <a:spLocks noGrp="1"/>
          </p:cNvSpPr>
          <p:nvPr/>
        </p:nvSpPr>
        <p:spPr>
          <a:xfrm>
            <a:off x="3476625" y="26479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F5AFCE-60B9-4BA2-80CA-F813617860C3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status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DA6059-1722-4C12-98C8-1D80C92A9C13}"/>
              </a:ext>
            </a:extLst>
          </p:cNvPr>
          <p:cNvSpPr>
            <a:spLocks noGrp="1"/>
          </p:cNvSpPr>
          <p:nvPr/>
        </p:nvSpPr>
        <p:spPr>
          <a:xfrm>
            <a:off x="6905625" y="27622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현재 변경·Staging 상태를 요약한다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42E3B5-24FE-4A29-B0C6-17A9A7CE3A80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458385-2085-4F71-91D2-C859AD49168A}"/>
              </a:ext>
            </a:extLst>
          </p:cNvPr>
          <p:cNvSpPr>
            <a:spLocks noGrp="1"/>
          </p:cNvSpPr>
          <p:nvPr/>
        </p:nvSpPr>
        <p:spPr>
          <a:xfrm>
            <a:off x="3714750" y="340042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diff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274F5D-00A8-489B-8C93-DB05C3FE736D}"/>
              </a:ext>
            </a:extLst>
          </p:cNvPr>
          <p:cNvSpPr>
            <a:spLocks noGrp="1"/>
          </p:cNvSpPr>
          <p:nvPr/>
        </p:nvSpPr>
        <p:spPr>
          <a:xfrm>
            <a:off x="6905625" y="340042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아직 Stage하지 않은 코드 차이를 본다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567472-E44A-41A6-8387-403F3A3A8B6C}"/>
              </a:ext>
            </a:extLst>
          </p:cNvPr>
          <p:cNvSpPr>
            <a:spLocks noGrp="1"/>
          </p:cNvSpPr>
          <p:nvPr/>
        </p:nvSpPr>
        <p:spPr>
          <a:xfrm>
            <a:off x="3476625" y="392430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911245-4A88-4FB4-AA5D-00883B897764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add &lt;file&gt;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AEADF9-92B3-4FB2-AA55-854B3C90CE7A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특정 변경을 Staging Area에 올린다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336C8DD-0B89-41DB-808F-739AAF6099F7}"/>
              </a:ext>
            </a:extLst>
          </p:cNvPr>
          <p:cNvSpPr>
            <a:spLocks noGrp="1"/>
          </p:cNvSpPr>
          <p:nvPr/>
        </p:nvSpPr>
        <p:spPr>
          <a:xfrm>
            <a:off x="3476625" y="456247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A2D1B12-872B-4C0A-818F-C0E9E71743A1}"/>
              </a:ext>
            </a:extLst>
          </p:cNvPr>
          <p:cNvSpPr>
            <a:spLocks noGrp="1"/>
          </p:cNvSpPr>
          <p:nvPr/>
        </p:nvSpPr>
        <p:spPr>
          <a:xfrm>
            <a:off x="3714750" y="46767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rm &lt;file&gt;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E9F42B-7DD8-4840-8030-BDB84E6E90F5}"/>
              </a:ext>
            </a:extLst>
          </p:cNvPr>
          <p:cNvSpPr>
            <a:spLocks noGrp="1"/>
          </p:cNvSpPr>
          <p:nvPr/>
        </p:nvSpPr>
        <p:spPr>
          <a:xfrm>
            <a:off x="6905625" y="467677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파일 삭제를 Git 변경으로 기록한다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99501B-C462-4A9A-A100-50630FDF5423}"/>
              </a:ext>
            </a:extLst>
          </p:cNvPr>
          <p:cNvSpPr>
            <a:spLocks noGrp="1"/>
          </p:cNvSpPr>
          <p:nvPr/>
        </p:nvSpPr>
        <p:spPr>
          <a:xfrm>
            <a:off x="3476625" y="52006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EFD9C7-B453-4D52-81F3-38720AF4588E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mv &lt;old&gt; &lt;new&gt;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8392DFB-9934-43C4-9B49-77AF0CF5E50D}"/>
              </a:ext>
            </a:extLst>
          </p:cNvPr>
          <p:cNvSpPr>
            <a:spLocks noGrp="1"/>
          </p:cNvSpPr>
          <p:nvPr/>
        </p:nvSpPr>
        <p:spPr>
          <a:xfrm>
            <a:off x="6905625" y="53149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파일 이동·이름 변경을 Git에 기록한다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B639B2-935D-47A2-B057-05DA1C8EDDFC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4312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무엇을 다음 Commit에 포함할지 확인하고 선택합니다.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184C0CC3-12DE-8CB6-CA6C-794C37326BA9}"/>
              </a:ext>
            </a:extLst>
          </p:cNvPr>
          <p:cNvSpPr>
            <a:spLocks noGrp="1"/>
          </p:cNvSpPr>
          <p:nvPr/>
        </p:nvSpPr>
        <p:spPr>
          <a:xfrm>
            <a:off x="5895975" y="2047875"/>
            <a:ext cx="41080" cy="37338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2891B90-392C-3189-F212-AFB6FE670CA5}"/>
              </a:ext>
            </a:extLst>
          </p:cNvPr>
          <p:cNvSpPr>
            <a:spLocks noGrp="1"/>
          </p:cNvSpPr>
          <p:nvPr/>
        </p:nvSpPr>
        <p:spPr>
          <a:xfrm>
            <a:off x="6905625" y="21431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역할</a:t>
            </a:r>
            <a:endParaRPr sz="1425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1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24D8B170-ABB4-46F1-9C4E-B20B72EEA5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CCDCDE49-FC4A-452B-80EA-2DC990AAD15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138B1C-4613-4991-A938-730FA8E54E1D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E1894F-C74F-4A98-ABD5-0304575A5AF1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E49CA8-0FBD-4A99-8374-40EF37174C7F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F1D73A-BDC8-4B6D-9892-77341B57E243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03 / HISTORY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906B4-A5B0-4368-B6DE-1C02055C5E1C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Commit과 이력 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6F73EB-621A-477F-A61A-37C8D23A9EA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변경을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버전으로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확정하고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과거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기록을</a:t>
            </a:r>
            <a:r>
              <a:rPr lang="en-US"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탐색</a:t>
            </a:r>
            <a:endParaRPr sz="12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2D2DCE-C63F-43BE-93C5-81B4FD081F11}"/>
              </a:ext>
            </a:extLst>
          </p:cNvPr>
          <p:cNvSpPr>
            <a:spLocks noGrp="1"/>
          </p:cNvSpPr>
          <p:nvPr/>
        </p:nvSpPr>
        <p:spPr>
          <a:xfrm>
            <a:off x="3476625" y="204787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D8CE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61DD49-94E3-40B7-BF86-09A265E2546F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명령어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2E3ED4-24A8-410B-B6FD-2CF74BFA3823}"/>
              </a:ext>
            </a:extLst>
          </p:cNvPr>
          <p:cNvSpPr>
            <a:spLocks noGrp="1"/>
          </p:cNvSpPr>
          <p:nvPr/>
        </p:nvSpPr>
        <p:spPr>
          <a:xfrm>
            <a:off x="3476625" y="26479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B53150-8BB5-40D0-A2B4-5F1A23C3F80E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commit -m "msg"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3DBC70-C74D-4F02-8FCE-FEB1EC373B7C}"/>
              </a:ext>
            </a:extLst>
          </p:cNvPr>
          <p:cNvSpPr>
            <a:spLocks noGrp="1"/>
          </p:cNvSpPr>
          <p:nvPr/>
        </p:nvSpPr>
        <p:spPr>
          <a:xfrm>
            <a:off x="6905625" y="27622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Staged 변경을 하나의 버전으로 저장한다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DECC89-1FDD-4DAE-8503-755327DB311C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144772-86BD-4595-BEA9-299B3954FEF9}"/>
              </a:ext>
            </a:extLst>
          </p:cNvPr>
          <p:cNvSpPr>
            <a:spLocks noGrp="1"/>
          </p:cNvSpPr>
          <p:nvPr/>
        </p:nvSpPr>
        <p:spPr>
          <a:xfrm>
            <a:off x="3714750" y="340042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log --oneline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BC2C40-AA85-495F-A60A-651950A18C58}"/>
              </a:ext>
            </a:extLst>
          </p:cNvPr>
          <p:cNvSpPr>
            <a:spLocks noGrp="1"/>
          </p:cNvSpPr>
          <p:nvPr/>
        </p:nvSpPr>
        <p:spPr>
          <a:xfrm>
            <a:off x="6905625" y="340042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Commit 이력을 짧게 확인한다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10CC31-4040-435D-9180-16A83AD41629}"/>
              </a:ext>
            </a:extLst>
          </p:cNvPr>
          <p:cNvSpPr>
            <a:spLocks noGrp="1"/>
          </p:cNvSpPr>
          <p:nvPr/>
        </p:nvSpPr>
        <p:spPr>
          <a:xfrm>
            <a:off x="3476625" y="392430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055430-F463-40E0-B270-8F0FE73CAE90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show &lt;commit&gt;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83BEBD-3FAA-400A-8211-FC5E0161D383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특정 Commit의 내용과 차이를 본다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51675A-86FC-4335-B1BC-78B27717F73C}"/>
              </a:ext>
            </a:extLst>
          </p:cNvPr>
          <p:cNvSpPr>
            <a:spLocks noGrp="1"/>
          </p:cNvSpPr>
          <p:nvPr/>
        </p:nvSpPr>
        <p:spPr>
          <a:xfrm>
            <a:off x="3476625" y="456247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F8123E-2CB1-49E7-A4FD-D02B8CA7F01A}"/>
              </a:ext>
            </a:extLst>
          </p:cNvPr>
          <p:cNvSpPr>
            <a:spLocks noGrp="1"/>
          </p:cNvSpPr>
          <p:nvPr/>
        </p:nvSpPr>
        <p:spPr>
          <a:xfrm>
            <a:off x="3714750" y="46767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blame &lt;file&gt;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AF45C8-7AFD-4AC5-B825-0CB341CAF084}"/>
              </a:ext>
            </a:extLst>
          </p:cNvPr>
          <p:cNvSpPr>
            <a:spLocks noGrp="1"/>
          </p:cNvSpPr>
          <p:nvPr/>
        </p:nvSpPr>
        <p:spPr>
          <a:xfrm>
            <a:off x="6905625" y="467677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각 줄을 마지막으로 바꾼 Commit을 찾는다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E7F534-0BDB-4C17-A0F8-2AB4B9CC56AF}"/>
              </a:ext>
            </a:extLst>
          </p:cNvPr>
          <p:cNvSpPr>
            <a:spLocks noGrp="1"/>
          </p:cNvSpPr>
          <p:nvPr/>
        </p:nvSpPr>
        <p:spPr>
          <a:xfrm>
            <a:off x="3476625" y="52006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CD669B2-9217-4E55-8BD5-92247968B1FE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tag &lt;name&gt;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DEA7436-2552-43E9-9DE5-E34092D133CB}"/>
              </a:ext>
            </a:extLst>
          </p:cNvPr>
          <p:cNvSpPr>
            <a:spLocks noGrp="1"/>
          </p:cNvSpPr>
          <p:nvPr/>
        </p:nvSpPr>
        <p:spPr>
          <a:xfrm>
            <a:off x="6905625" y="53149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중요한 Commit에 버전 이름을 붙인다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8A4EA7-0D3D-4452-B0F2-E980A6D9E5F6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4312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변경을 버전으로 확정하고 과거 기록을 탐색합니다.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F0A210DD-A806-AA4C-DDCF-8EAFC8570C3C}"/>
              </a:ext>
            </a:extLst>
          </p:cNvPr>
          <p:cNvSpPr>
            <a:spLocks noGrp="1"/>
          </p:cNvSpPr>
          <p:nvPr/>
        </p:nvSpPr>
        <p:spPr>
          <a:xfrm>
            <a:off x="5895975" y="2047875"/>
            <a:ext cx="41080" cy="37338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7BD4EBD-20F3-7543-2B75-3C996762447C}"/>
              </a:ext>
            </a:extLst>
          </p:cNvPr>
          <p:cNvSpPr>
            <a:spLocks noGrp="1"/>
          </p:cNvSpPr>
          <p:nvPr/>
        </p:nvSpPr>
        <p:spPr>
          <a:xfrm>
            <a:off x="6905625" y="21431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역할</a:t>
            </a:r>
            <a:endParaRPr sz="1425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918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9A15C58-C1A7-41DF-873A-59D68037BF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75E9BD7E-4A23-4160-9EAF-00D7E2CC9F0B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9DCE9A-A3D8-4F9A-943B-2AA2A6C890AC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96CDE8-32C2-4872-92BE-E50443A2D1C2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17BF4D-4F68-4F5D-BEE7-0FB2A8E2C7F2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D68950-D8CE-4CA5-A408-5F55C8584767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04 / BRANCH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04491C-7FC1-4606-A3A4-217391AA3FE9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Branch와 작업 병합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4710B0-FD3D-41EA-8C09-1291C7496962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독립된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작업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흐름을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만들고</a:t>
            </a:r>
            <a:r>
              <a:rPr sz="1200" b="0" dirty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다시 합치는 기능</a:t>
            </a:r>
            <a:endParaRPr sz="12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20220B0-577A-4271-A367-8DB77AC75BC5}"/>
              </a:ext>
            </a:extLst>
          </p:cNvPr>
          <p:cNvSpPr>
            <a:spLocks noGrp="1"/>
          </p:cNvSpPr>
          <p:nvPr/>
        </p:nvSpPr>
        <p:spPr>
          <a:xfrm>
            <a:off x="3476625" y="204787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D8CE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D4271D-938E-459D-82A4-2A0B505697D4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명령어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DA2643-BF31-4DEE-8EF0-F96D0FED3537}"/>
              </a:ext>
            </a:extLst>
          </p:cNvPr>
          <p:cNvSpPr>
            <a:spLocks noGrp="1"/>
          </p:cNvSpPr>
          <p:nvPr/>
        </p:nvSpPr>
        <p:spPr>
          <a:xfrm>
            <a:off x="3476625" y="26479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9EF6F5-8D75-4C8C-BED9-399598BF32BE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branch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521CCA-2FD0-4D21-AA53-290F94A293A7}"/>
              </a:ext>
            </a:extLst>
          </p:cNvPr>
          <p:cNvSpPr>
            <a:spLocks noGrp="1"/>
          </p:cNvSpPr>
          <p:nvPr/>
        </p:nvSpPr>
        <p:spPr>
          <a:xfrm>
            <a:off x="6905625" y="27622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Branch 목록을 확인·생성·삭제한다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F122E9-F8A6-43E6-A051-914BA3EDD168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CE9F5F-0443-4E3E-9BC8-66E6DD1F5F8F}"/>
              </a:ext>
            </a:extLst>
          </p:cNvPr>
          <p:cNvSpPr>
            <a:spLocks noGrp="1"/>
          </p:cNvSpPr>
          <p:nvPr/>
        </p:nvSpPr>
        <p:spPr>
          <a:xfrm>
            <a:off x="3714750" y="340042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switch &lt;name&gt;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239F60-AB09-47A5-A4EA-CDCA06EED372}"/>
              </a:ext>
            </a:extLst>
          </p:cNvPr>
          <p:cNvSpPr>
            <a:spLocks noGrp="1"/>
          </p:cNvSpPr>
          <p:nvPr/>
        </p:nvSpPr>
        <p:spPr>
          <a:xfrm>
            <a:off x="6905625" y="340042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작업할 Branch로 이동한다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937C8A-999F-4143-94C1-83E0B1BE206E}"/>
              </a:ext>
            </a:extLst>
          </p:cNvPr>
          <p:cNvSpPr>
            <a:spLocks noGrp="1"/>
          </p:cNvSpPr>
          <p:nvPr/>
        </p:nvSpPr>
        <p:spPr>
          <a:xfrm>
            <a:off x="3476625" y="392430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F04918-8E52-4B86-B43C-07164CF4676A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switch -c &lt;name&gt;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712E96-AD3C-4257-B507-B12A82598B40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새 Branch를 만들며 이동한다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505016-38DD-417E-9A59-11DE22D646AF}"/>
              </a:ext>
            </a:extLst>
          </p:cNvPr>
          <p:cNvSpPr>
            <a:spLocks noGrp="1"/>
          </p:cNvSpPr>
          <p:nvPr/>
        </p:nvSpPr>
        <p:spPr>
          <a:xfrm>
            <a:off x="3476625" y="456247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FF5A05-AE16-401A-A724-E61F241BB8C5}"/>
              </a:ext>
            </a:extLst>
          </p:cNvPr>
          <p:cNvSpPr>
            <a:spLocks noGrp="1"/>
          </p:cNvSpPr>
          <p:nvPr/>
        </p:nvSpPr>
        <p:spPr>
          <a:xfrm>
            <a:off x="3714750" y="46767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merge &lt;name&gt;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A75F18-AE56-4768-AD99-51F8C11EC837}"/>
              </a:ext>
            </a:extLst>
          </p:cNvPr>
          <p:cNvSpPr>
            <a:spLocks noGrp="1"/>
          </p:cNvSpPr>
          <p:nvPr/>
        </p:nvSpPr>
        <p:spPr>
          <a:xfrm>
            <a:off x="6905625" y="467677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다른 Branch의 이력을 현재 Branch에 합친다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46FD2D-8C6C-4FEF-AB2C-02F95FD96325}"/>
              </a:ext>
            </a:extLst>
          </p:cNvPr>
          <p:cNvSpPr>
            <a:spLocks noGrp="1"/>
          </p:cNvSpPr>
          <p:nvPr/>
        </p:nvSpPr>
        <p:spPr>
          <a:xfrm>
            <a:off x="3476625" y="52006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A18AA9-8012-493A-AB2A-E1AB2A40AEAD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 dirty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rebase &lt;base&gt;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BB1A5-A505-49E0-A2FD-5730B6D630FD}"/>
              </a:ext>
            </a:extLst>
          </p:cNvPr>
          <p:cNvSpPr>
            <a:spLocks noGrp="1"/>
          </p:cNvSpPr>
          <p:nvPr/>
        </p:nvSpPr>
        <p:spPr>
          <a:xfrm>
            <a:off x="6905625" y="53149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현재 </a:t>
            </a:r>
            <a:r>
              <a:rPr lang="ko-KR" altLang="ko-KR" sz="1200" dirty="0" err="1">
                <a:solidFill>
                  <a:srgbClr val="4B5563"/>
                </a:solidFill>
                <a:latin typeface="Malgun Gothic"/>
              </a:rPr>
              <a:t>브랜치의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 시작점(</a:t>
            </a:r>
            <a:r>
              <a:rPr lang="ko-KR" altLang="ko-KR" sz="1200" dirty="0" err="1">
                <a:solidFill>
                  <a:srgbClr val="4B5563"/>
                </a:solidFill>
                <a:latin typeface="Malgun Gothic"/>
              </a:rPr>
              <a:t>Base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)을 지정한 &lt;</a:t>
            </a:r>
            <a:r>
              <a:rPr lang="ko-KR" altLang="ko-KR" sz="1200" dirty="0" err="1">
                <a:solidFill>
                  <a:srgbClr val="4B5563"/>
                </a:solidFill>
                <a:latin typeface="Malgun Gothic"/>
              </a:rPr>
              <a:t>base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&gt; </a:t>
            </a:r>
            <a:r>
              <a:rPr lang="ko-KR" altLang="ko-KR" sz="1200" dirty="0" err="1">
                <a:solidFill>
                  <a:srgbClr val="4B5563"/>
                </a:solidFill>
                <a:latin typeface="Malgun Gothic"/>
              </a:rPr>
              <a:t>브랜치의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 최신 </a:t>
            </a:r>
            <a:r>
              <a:rPr lang="ko-KR" altLang="ko-KR" sz="1200" dirty="0" err="1">
                <a:solidFill>
                  <a:srgbClr val="4B5563"/>
                </a:solidFill>
                <a:latin typeface="Malgun Gothic"/>
              </a:rPr>
              <a:t>커밋</a:t>
            </a: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 위치로 재설정</a:t>
            </a:r>
            <a:endParaRPr sz="12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716D81-4637-4297-8CFC-973C782E9CD1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4312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독립된 작업 흐름을 만들고 완료된 변경을 합칩니다.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738EEDF7-C06B-D2E2-D1E9-3FDB1433D04D}"/>
              </a:ext>
            </a:extLst>
          </p:cNvPr>
          <p:cNvSpPr>
            <a:spLocks noGrp="1"/>
          </p:cNvSpPr>
          <p:nvPr/>
        </p:nvSpPr>
        <p:spPr>
          <a:xfrm>
            <a:off x="5895975" y="2047875"/>
            <a:ext cx="41080" cy="37338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F5C44BB-A81E-4025-60A2-DBA8F8373D98}"/>
              </a:ext>
            </a:extLst>
          </p:cNvPr>
          <p:cNvSpPr>
            <a:spLocks noGrp="1"/>
          </p:cNvSpPr>
          <p:nvPr/>
        </p:nvSpPr>
        <p:spPr>
          <a:xfrm>
            <a:off x="6905625" y="21431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역할</a:t>
            </a:r>
            <a:endParaRPr sz="1425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63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27C22919-3A66-4737-B2A9-662FB37FF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546E5274-349D-47F7-83E6-001CC606FCE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AEF4D6-2F30-440C-9751-D8C58F199F2B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3105FC-2545-4A5B-B31E-AA77BFDD25BF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B1453E-03BA-4839-A174-EFD1CF7A4196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0E57ED-E4E2-4C80-B2C5-F37EA14013D5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05 / RECOVER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413CA5-365C-42E3-8349-B14A9AC36F49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취소와</a:t>
            </a:r>
            <a:r>
              <a:rPr sz="27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복구</a:t>
            </a:r>
            <a:endParaRPr sz="2700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B83AAB-FEF2-4341-917E-89791A341E27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실수하거나 문제가 생겼을 때 이전 상태로 복구</a:t>
            </a:r>
            <a:endParaRPr sz="12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AAD8EB-A60F-42AF-A095-BC0275A42CE3}"/>
              </a:ext>
            </a:extLst>
          </p:cNvPr>
          <p:cNvSpPr>
            <a:spLocks noGrp="1"/>
          </p:cNvSpPr>
          <p:nvPr/>
        </p:nvSpPr>
        <p:spPr>
          <a:xfrm>
            <a:off x="3476625" y="204787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D8CE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725C06-9D4E-474B-A81C-C70D270598D3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명령어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E10872-635E-42E0-8E33-D9D66E446B6F}"/>
              </a:ext>
            </a:extLst>
          </p:cNvPr>
          <p:cNvSpPr>
            <a:spLocks noGrp="1"/>
          </p:cNvSpPr>
          <p:nvPr/>
        </p:nvSpPr>
        <p:spPr>
          <a:xfrm>
            <a:off x="3476625" y="26479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7DF56A-2A60-49DC-9CB7-3079F5A370D5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restore &lt;file&gt;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1823DE-DD39-472F-B892-324BA5086531}"/>
              </a:ext>
            </a:extLst>
          </p:cNvPr>
          <p:cNvSpPr>
            <a:spLocks noGrp="1"/>
          </p:cNvSpPr>
          <p:nvPr/>
        </p:nvSpPr>
        <p:spPr>
          <a:xfrm>
            <a:off x="6905625" y="27622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Working Tree의 수정 내용을 버린다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7F4F95-167E-465E-98DE-53FA761E5AD7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3121F8-6E86-4F7F-90C2-A53661156D45}"/>
              </a:ext>
            </a:extLst>
          </p:cNvPr>
          <p:cNvSpPr>
            <a:spLocks noGrp="1"/>
          </p:cNvSpPr>
          <p:nvPr/>
        </p:nvSpPr>
        <p:spPr>
          <a:xfrm>
            <a:off x="3714750" y="340042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restore --staged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7CE0D8-6E67-4CDA-B07B-2DEE4EE6B6A3}"/>
              </a:ext>
            </a:extLst>
          </p:cNvPr>
          <p:cNvSpPr>
            <a:spLocks noGrp="1"/>
          </p:cNvSpPr>
          <p:nvPr/>
        </p:nvSpPr>
        <p:spPr>
          <a:xfrm>
            <a:off x="6905625" y="340042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Stage한 변경을 다시 내려놓는다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CE060A-2C25-449A-B9DF-E058135A3D1D}"/>
              </a:ext>
            </a:extLst>
          </p:cNvPr>
          <p:cNvSpPr>
            <a:spLocks noGrp="1"/>
          </p:cNvSpPr>
          <p:nvPr/>
        </p:nvSpPr>
        <p:spPr>
          <a:xfrm>
            <a:off x="3476625" y="392430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076E38-704D-47C4-8154-7C93511507BB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reset &lt;commit&gt;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01FFE91-FE81-43DB-84E3-728D25BFFF70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Branch가 가리키는 Commit 위치를 되돌린다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A24ED4-CF2B-4725-9FBF-0D043CD380D5}"/>
              </a:ext>
            </a:extLst>
          </p:cNvPr>
          <p:cNvSpPr>
            <a:spLocks noGrp="1"/>
          </p:cNvSpPr>
          <p:nvPr/>
        </p:nvSpPr>
        <p:spPr>
          <a:xfrm>
            <a:off x="3476625" y="456247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FBC1DE-5463-46DA-88F0-9809F9078155}"/>
              </a:ext>
            </a:extLst>
          </p:cNvPr>
          <p:cNvSpPr>
            <a:spLocks noGrp="1"/>
          </p:cNvSpPr>
          <p:nvPr/>
        </p:nvSpPr>
        <p:spPr>
          <a:xfrm>
            <a:off x="3714750" y="46767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 dirty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revert &lt;commit&gt;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AE554D-2923-4284-8736-0C69CF0C98D6}"/>
              </a:ext>
            </a:extLst>
          </p:cNvPr>
          <p:cNvSpPr>
            <a:spLocks noGrp="1"/>
          </p:cNvSpPr>
          <p:nvPr/>
        </p:nvSpPr>
        <p:spPr>
          <a:xfrm>
            <a:off x="6905625" y="467677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기존 Commit을 취소하는 새 Commit을 만든다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EFDACC-CD4B-49F6-A4D9-6646362128CD}"/>
              </a:ext>
            </a:extLst>
          </p:cNvPr>
          <p:cNvSpPr>
            <a:spLocks noGrp="1"/>
          </p:cNvSpPr>
          <p:nvPr/>
        </p:nvSpPr>
        <p:spPr>
          <a:xfrm>
            <a:off x="3476625" y="52006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430F9B-F78D-4681-828C-00FF7213FB4E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 dirty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</a:t>
            </a:r>
            <a:r>
              <a:rPr sz="1275" b="1" dirty="0" err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reflog</a:t>
            </a:r>
            <a:endParaRPr sz="1275" b="1" dirty="0">
              <a:solidFill>
                <a:srgbClr val="1F232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495E1A-68F6-4854-8331-BC8ABE3729FE}"/>
              </a:ext>
            </a:extLst>
          </p:cNvPr>
          <p:cNvSpPr>
            <a:spLocks noGrp="1"/>
          </p:cNvSpPr>
          <p:nvPr/>
        </p:nvSpPr>
        <p:spPr>
          <a:xfrm>
            <a:off x="6905625" y="53149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HEAD와 Branch 이동 기록을 확인한다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3DEA24B-0A43-4AE4-A54D-959C546D4FAA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4312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작업 단계에 맞춰 변경 또는 Commit을 되돌립니다.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610FBCD3-B924-3F8E-D8B0-F77DB6347C50}"/>
              </a:ext>
            </a:extLst>
          </p:cNvPr>
          <p:cNvSpPr>
            <a:spLocks noGrp="1"/>
          </p:cNvSpPr>
          <p:nvPr/>
        </p:nvSpPr>
        <p:spPr>
          <a:xfrm>
            <a:off x="5895975" y="2047875"/>
            <a:ext cx="41080" cy="37338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EE9C637-E47F-8D09-5CC9-2661E80D7AF0}"/>
              </a:ext>
            </a:extLst>
          </p:cNvPr>
          <p:cNvSpPr>
            <a:spLocks noGrp="1"/>
          </p:cNvSpPr>
          <p:nvPr/>
        </p:nvSpPr>
        <p:spPr>
          <a:xfrm>
            <a:off x="6905625" y="21431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역할</a:t>
            </a:r>
            <a:endParaRPr sz="1425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964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3E1C0F1-CF57-4DCA-BDA5-0A6195D732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FF4B03CB-14F7-404F-BEB2-D50EEF6F52D3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7FB4A7-1C50-4090-85A6-8F68E8E777D9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4D4E6A-3C96-486C-9758-982B5A2E63D7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E2E723-83DA-445E-8C14-4872D5F7CE52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CC2E26-733D-47BB-A42F-2828111E0013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06 / REMOTE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0E45B5-5656-41C0-92C2-E941AE3CEA7F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Remote와 협업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27176-B29C-4ABE-95E9-54EAC88A94F9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1200" dirty="0">
                <a:solidFill>
                  <a:srgbClr val="4B5563"/>
                </a:solidFill>
                <a:latin typeface="Malgun Gothic"/>
              </a:rPr>
              <a:t>다른 컴퓨터나 GitHub 같은 원격 저장소와 연결</a:t>
            </a:r>
            <a:endParaRPr sz="1200" b="0" dirty="0">
              <a:solidFill>
                <a:srgbClr val="4B556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9BCD58-C490-4FA5-9AF8-625E42ACF674}"/>
              </a:ext>
            </a:extLst>
          </p:cNvPr>
          <p:cNvSpPr>
            <a:spLocks noGrp="1"/>
          </p:cNvSpPr>
          <p:nvPr/>
        </p:nvSpPr>
        <p:spPr>
          <a:xfrm>
            <a:off x="3476625" y="2047875"/>
            <a:ext cx="7810500" cy="514350"/>
          </a:xfrm>
          <a:prstGeom prst="roundRect">
            <a:avLst>
              <a:gd name="adj" fmla="val 14815"/>
            </a:avLst>
          </a:prstGeom>
          <a:solidFill>
            <a:srgbClr val="FFD8CE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E923A6-C841-45A8-BBDC-9AFDCB5827E4}"/>
              </a:ext>
            </a:extLst>
          </p:cNvPr>
          <p:cNvSpPr>
            <a:spLocks noGrp="1"/>
          </p:cNvSpPr>
          <p:nvPr/>
        </p:nvSpPr>
        <p:spPr>
          <a:xfrm>
            <a:off x="3714750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명령어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39E85B-66C2-4C7D-9196-17342D86BF96}"/>
              </a:ext>
            </a:extLst>
          </p:cNvPr>
          <p:cNvSpPr>
            <a:spLocks noGrp="1"/>
          </p:cNvSpPr>
          <p:nvPr/>
        </p:nvSpPr>
        <p:spPr>
          <a:xfrm>
            <a:off x="3476625" y="26479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D4CE55-990A-4820-A195-E3697856A59C}"/>
              </a:ext>
            </a:extLst>
          </p:cNvPr>
          <p:cNvSpPr>
            <a:spLocks noGrp="1"/>
          </p:cNvSpPr>
          <p:nvPr/>
        </p:nvSpPr>
        <p:spPr>
          <a:xfrm>
            <a:off x="3714750" y="27622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fetch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9FC366-D4BE-4F00-B370-EE9778C3C86C}"/>
              </a:ext>
            </a:extLst>
          </p:cNvPr>
          <p:cNvSpPr>
            <a:spLocks noGrp="1"/>
          </p:cNvSpPr>
          <p:nvPr/>
        </p:nvSpPr>
        <p:spPr>
          <a:xfrm>
            <a:off x="6905625" y="27622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Remote 이력만 받아오고 작업에는 합치지 않는다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A2376-2FE7-40DF-815A-780B58C69A37}"/>
              </a:ext>
            </a:extLst>
          </p:cNvPr>
          <p:cNvSpPr>
            <a:spLocks noGrp="1"/>
          </p:cNvSpPr>
          <p:nvPr/>
        </p:nvSpPr>
        <p:spPr>
          <a:xfrm>
            <a:off x="3476625" y="328612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8F1CB6-31FE-45D1-949A-6AC1D4FAAE7A}"/>
              </a:ext>
            </a:extLst>
          </p:cNvPr>
          <p:cNvSpPr>
            <a:spLocks noGrp="1"/>
          </p:cNvSpPr>
          <p:nvPr/>
        </p:nvSpPr>
        <p:spPr>
          <a:xfrm>
            <a:off x="3714750" y="340042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pull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49E661-DAE4-47C9-BFC2-4BCB83D98083}"/>
              </a:ext>
            </a:extLst>
          </p:cNvPr>
          <p:cNvSpPr>
            <a:spLocks noGrp="1"/>
          </p:cNvSpPr>
          <p:nvPr/>
        </p:nvSpPr>
        <p:spPr>
          <a:xfrm>
            <a:off x="6905625" y="340042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Remote 이력을 받아 현재 Branch에 반영한다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3DD0A9-1627-481E-9B28-68A30F429736}"/>
              </a:ext>
            </a:extLst>
          </p:cNvPr>
          <p:cNvSpPr>
            <a:spLocks noGrp="1"/>
          </p:cNvSpPr>
          <p:nvPr/>
        </p:nvSpPr>
        <p:spPr>
          <a:xfrm>
            <a:off x="3476625" y="392430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FDE005-69A7-4FE0-99C9-AF4E7C50E63A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push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9BC8CD-9E4F-4881-8AF3-4F4D9825245B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Local Commit을 Remote로 업로드한다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0878B0-8DCD-4352-84D8-CB4F5D9CA1D2}"/>
              </a:ext>
            </a:extLst>
          </p:cNvPr>
          <p:cNvSpPr>
            <a:spLocks noGrp="1"/>
          </p:cNvSpPr>
          <p:nvPr/>
        </p:nvSpPr>
        <p:spPr>
          <a:xfrm>
            <a:off x="3476625" y="4562475"/>
            <a:ext cx="7810500" cy="581025"/>
          </a:xfrm>
          <a:prstGeom prst="rect">
            <a:avLst/>
          </a:prstGeom>
          <a:solidFill>
            <a:srgbClr val="F1F2F4"/>
          </a:solidFill>
          <a:ln w="9525">
            <a:solidFill>
              <a:srgbClr val="E1E3E6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5BA3EA-C0FC-4E4D-BD71-3E91342A305B}"/>
              </a:ext>
            </a:extLst>
          </p:cNvPr>
          <p:cNvSpPr>
            <a:spLocks noGrp="1"/>
          </p:cNvSpPr>
          <p:nvPr/>
        </p:nvSpPr>
        <p:spPr>
          <a:xfrm>
            <a:off x="3714750" y="46767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cherry-pick &lt;commit&gt;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6E7677-164A-44D8-B758-9AB36A08CA49}"/>
              </a:ext>
            </a:extLst>
          </p:cNvPr>
          <p:cNvSpPr>
            <a:spLocks noGrp="1"/>
          </p:cNvSpPr>
          <p:nvPr/>
        </p:nvSpPr>
        <p:spPr>
          <a:xfrm>
            <a:off x="6905625" y="4676775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필요한 Commit 하나만 현재 Branch에 적용한다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FB472F3-EF70-4098-BC4E-D6936D2E172C}"/>
              </a:ext>
            </a:extLst>
          </p:cNvPr>
          <p:cNvSpPr>
            <a:spLocks noGrp="1"/>
          </p:cNvSpPr>
          <p:nvPr/>
        </p:nvSpPr>
        <p:spPr>
          <a:xfrm>
            <a:off x="3476625" y="5200650"/>
            <a:ext cx="7810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6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4F3144-6331-445C-8732-1D48350E992E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 stash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E6B855-5C76-4738-A19E-45299F294EB4}"/>
              </a:ext>
            </a:extLst>
          </p:cNvPr>
          <p:cNvSpPr>
            <a:spLocks noGrp="1"/>
          </p:cNvSpPr>
          <p:nvPr/>
        </p:nvSpPr>
        <p:spPr>
          <a:xfrm>
            <a:off x="6905625" y="5314950"/>
            <a:ext cx="400050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원격 반영 전 변경사항을 임시 보관한다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B4D468-DAB4-435D-906C-29755E27EE02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4312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내 저장소와 GitHub 같은 원격 저장소의 이력을 교환합니다.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357471FE-3172-F355-1B3C-D0EC1FB95740}"/>
              </a:ext>
            </a:extLst>
          </p:cNvPr>
          <p:cNvSpPr>
            <a:spLocks noGrp="1"/>
          </p:cNvSpPr>
          <p:nvPr/>
        </p:nvSpPr>
        <p:spPr>
          <a:xfrm>
            <a:off x="5895975" y="2047875"/>
            <a:ext cx="41080" cy="37338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EC753DD-C5E3-425A-63C6-CE3C416A91CF}"/>
              </a:ext>
            </a:extLst>
          </p:cNvPr>
          <p:cNvSpPr>
            <a:spLocks noGrp="1"/>
          </p:cNvSpPr>
          <p:nvPr/>
        </p:nvSpPr>
        <p:spPr>
          <a:xfrm>
            <a:off x="6905625" y="214312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2328"/>
                </a:solidFill>
                <a:latin typeface="Arial"/>
                <a:ea typeface="Arial"/>
                <a:cs typeface="Arial"/>
              </a:rPr>
              <a:t>역할</a:t>
            </a:r>
            <a:endParaRPr sz="1425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6667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12700">
            <a:solidFill>
              <a:srgbClr val="DADFE5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53445" y="1066038"/>
            <a:ext cx="7454468" cy="985720"/>
          </a:xfrm>
          <a:prstGeom prst="roundRect">
            <a:avLst>
              <a:gd name="adj" fmla="val 7097"/>
            </a:avLst>
          </a:prstGeom>
          <a:solidFill>
            <a:srgbClr val="FFD4C9"/>
          </a:solidFill>
          <a:ln w="12700">
            <a:solidFill>
              <a:srgbClr val="FF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78413" y="139567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0242A"/>
                </a:solidFill>
              </a:rPr>
              <a:t>Git은 프로그램의 버전을 관리하는 도구입니다.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2607564" y="3080458"/>
            <a:ext cx="6327648" cy="0"/>
          </a:xfrm>
          <a:prstGeom prst="line">
            <a:avLst/>
          </a:prstGeom>
          <a:noFill/>
          <a:ln w="27940">
            <a:solidFill>
              <a:srgbClr val="C7CDD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60092" y="2696410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3828" y="29341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95500" y="362909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변경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30908" y="397657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코드를 수정한다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134612" y="2696410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8348" y="29341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0020" y="362909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기록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05428" y="397657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Commit으로 남긴다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009132" y="2696410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2868" y="29341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44540" y="362909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관리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79948" y="397657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비교·분리·복구한다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883652" y="2696410"/>
            <a:ext cx="749808" cy="7498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4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7388" y="29341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19060" y="362909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A"/>
                </a:solidFill>
              </a:rPr>
              <a:t>공유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54468" y="397657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44252"/>
                </a:solidFill>
              </a:rPr>
              <a:t>원격 저장소와 협업한다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2022348" y="502813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88108" y="5293306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0" b="1" dirty="0">
                <a:solidFill>
                  <a:srgbClr val="20242A"/>
                </a:solidFill>
              </a:rPr>
              <a:t>앞서 본 명령어들은 이 버전 관리를 더 편하고, 간단하고, 안전하게 </a:t>
            </a:r>
            <a:r>
              <a:rPr lang="en-US" sz="1570" b="1" dirty="0" err="1">
                <a:solidFill>
                  <a:srgbClr val="20242A"/>
                </a:solidFill>
              </a:rPr>
              <a:t>하기</a:t>
            </a:r>
            <a:r>
              <a:rPr lang="en-US" sz="1570" b="1" dirty="0">
                <a:solidFill>
                  <a:srgbClr val="20242A"/>
                </a:solidFill>
              </a:rPr>
              <a:t> </a:t>
            </a:r>
            <a:r>
              <a:rPr lang="en-US" sz="1570" b="1" dirty="0" err="1">
                <a:solidFill>
                  <a:srgbClr val="20242A"/>
                </a:solidFill>
              </a:rPr>
              <a:t>위한</a:t>
            </a:r>
            <a:r>
              <a:rPr lang="en-US" sz="1570" b="1" dirty="0">
                <a:solidFill>
                  <a:srgbClr val="20242A"/>
                </a:solidFill>
              </a:rPr>
              <a:t> </a:t>
            </a:r>
            <a:r>
              <a:rPr lang="ko-KR" altLang="en-US" sz="1570" b="1" dirty="0">
                <a:solidFill>
                  <a:srgbClr val="20242A"/>
                </a:solidFill>
              </a:rPr>
              <a:t>도구</a:t>
            </a:r>
            <a:endParaRPr lang="en-US" sz="1570" dirty="0"/>
          </a:p>
        </p:txBody>
      </p:sp>
      <p:sp>
        <p:nvSpPr>
          <p:cNvPr id="30" name="Text 28"/>
          <p:cNvSpPr/>
          <p:nvPr/>
        </p:nvSpPr>
        <p:spPr>
          <a:xfrm>
            <a:off x="2278380" y="6125410"/>
            <a:ext cx="7662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4B35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SETUP → TRACK → HISTORY → BRANCH → RECOVER → REMOTE</a:t>
            </a:r>
            <a:endParaRPr lang="en-US" sz="115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83D9FE-39C4-72B8-C41E-91007E69A5BD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lang="en-US" sz="1275" b="1" dirty="0" err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AfterComand</a:t>
            </a:r>
            <a:endParaRPr sz="1275" b="1" dirty="0">
              <a:solidFill>
                <a:srgbClr val="F0503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018A38-C062-296B-AC71-65E549E0A6DD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lang="en-US" sz="825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10</a:t>
            </a:r>
            <a:endParaRPr sz="825" b="0" dirty="0">
              <a:solidFill>
                <a:srgbClr val="4B5563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4F30A15-6818-4679-B397-E5F357EE7E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8FE10737-F2AF-436A-87FA-C2D96A43600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912F5F-0590-42A7-8DF1-06619B2B2D33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EAB41F-2390-4CA5-9B5B-8E18DA1BAE7D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8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1</a:t>
            </a:r>
            <a:endParaRPr sz="825" b="0" dirty="0">
              <a:solidFill>
                <a:srgbClr val="4B556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04B74D-1E52-4587-85DD-E0D5DC26FC6E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E5598D-E551-44AD-8C29-2BF006D3EDCC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SOURCES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3578E1-0376-49A9-ACEB-B655958A9817}"/>
              </a:ext>
            </a:extLst>
          </p:cNvPr>
          <p:cNvSpPr>
            <a:spLocks noGrp="1"/>
          </p:cNvSpPr>
          <p:nvPr/>
        </p:nvSpPr>
        <p:spPr>
          <a:xfrm>
            <a:off x="533400" y="9810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7CCCBD-3CB2-4A48-8A4A-DD15F04F761A}"/>
              </a:ext>
            </a:extLst>
          </p:cNvPr>
          <p:cNvSpPr>
            <a:spLocks noGrp="1"/>
          </p:cNvSpPr>
          <p:nvPr/>
        </p:nvSpPr>
        <p:spPr>
          <a:xfrm>
            <a:off x="3495675" y="8382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4D6974-EC0E-4F4D-94ED-5AE4E7C6C288}"/>
              </a:ext>
            </a:extLst>
          </p:cNvPr>
          <p:cNvSpPr>
            <a:spLocks noGrp="1"/>
          </p:cNvSpPr>
          <p:nvPr/>
        </p:nvSpPr>
        <p:spPr>
          <a:xfrm>
            <a:off x="4210050" y="790575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Reference</a:t>
            </a:r>
          </a:p>
        </p:txBody>
      </p:sp>
      <p:sp>
        <p:nvSpPr>
          <p:cNvPr id="10" name="직사각형 9">
            <a:hlinkClick r:id="rId3"/>
            <a:extLst>
              <a:ext uri="{FF2B5EF4-FFF2-40B4-BE49-F238E27FC236}">
                <a16:creationId xmlns:a16="http://schemas.microsoft.com/office/drawing/2014/main" id="{9E4D57AA-6984-4952-B6D5-0F27A1B67FA6}"/>
              </a:ext>
            </a:extLst>
          </p:cNvPr>
          <p:cNvSpPr>
            <a:spLocks noGrp="1"/>
          </p:cNvSpPr>
          <p:nvPr/>
        </p:nvSpPr>
        <p:spPr>
          <a:xfrm>
            <a:off x="4210050" y="1314450"/>
            <a:ext cx="6762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 algn="l">
              <a:defRPr sz="17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lang="en-US" sz="17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https://git-scm.com/docs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94651C-FD18-4D5C-BBB1-A9E692EFCBBB}"/>
              </a:ext>
            </a:extLst>
          </p:cNvPr>
          <p:cNvSpPr>
            <a:spLocks noGrp="1"/>
          </p:cNvSpPr>
          <p:nvPr/>
        </p:nvSpPr>
        <p:spPr>
          <a:xfrm>
            <a:off x="4210050" y="1743075"/>
            <a:ext cx="676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F232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F2328"/>
                </a:solidFill>
                <a:latin typeface="Malgun Gothic"/>
                <a:ea typeface="Malgun Gothic"/>
                <a:cs typeface="Malgun Gothic"/>
              </a:rPr>
              <a:t>명령어별 사용법과 옵션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D4C83F98-F26A-459C-8F8B-453EF63A77F5}"/>
              </a:ext>
            </a:extLst>
          </p:cNvPr>
          <p:cNvSpPr>
            <a:spLocks noGrp="1"/>
          </p:cNvSpPr>
          <p:nvPr/>
        </p:nvSpPr>
        <p:spPr>
          <a:xfrm>
            <a:off x="3495675" y="2409825"/>
            <a:ext cx="7810500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AE0CFF-1073-4F48-9A1A-082A28A26618}"/>
              </a:ext>
            </a:extLst>
          </p:cNvPr>
          <p:cNvSpPr>
            <a:spLocks noGrp="1"/>
          </p:cNvSpPr>
          <p:nvPr/>
        </p:nvSpPr>
        <p:spPr>
          <a:xfrm>
            <a:off x="3495675" y="27908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61E393-D28A-40A6-B0AE-8F946A3D0005}"/>
              </a:ext>
            </a:extLst>
          </p:cNvPr>
          <p:cNvSpPr>
            <a:spLocks noGrp="1"/>
          </p:cNvSpPr>
          <p:nvPr/>
        </p:nvSpPr>
        <p:spPr>
          <a:xfrm>
            <a:off x="4210050" y="2743200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Pro Git, 2nd Edition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805F64-988D-4C93-A5D4-7F82A5535F42}"/>
              </a:ext>
            </a:extLst>
          </p:cNvPr>
          <p:cNvSpPr>
            <a:spLocks noGrp="1"/>
          </p:cNvSpPr>
          <p:nvPr/>
        </p:nvSpPr>
        <p:spPr>
          <a:xfrm>
            <a:off x="4210050" y="3219450"/>
            <a:ext cx="6762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Scott Chacon &amp; Ben Straub</a:t>
            </a:r>
          </a:p>
        </p:txBody>
      </p:sp>
      <p:sp>
        <p:nvSpPr>
          <p:cNvPr id="16" name="직사각형 15">
            <a:hlinkClick r:id="rId4"/>
            <a:extLst>
              <a:ext uri="{FF2B5EF4-FFF2-40B4-BE49-F238E27FC236}">
                <a16:creationId xmlns:a16="http://schemas.microsoft.com/office/drawing/2014/main" id="{35BA87AB-947F-4D78-A2E4-1C5B72CC68FA}"/>
              </a:ext>
            </a:extLst>
          </p:cNvPr>
          <p:cNvSpPr>
            <a:spLocks noGrp="1"/>
          </p:cNvSpPr>
          <p:nvPr/>
        </p:nvSpPr>
        <p:spPr>
          <a:xfrm>
            <a:off x="4210050" y="3648075"/>
            <a:ext cx="6762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 algn="l">
              <a:defRPr sz="17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https://git-scm.com/book/en/v2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55499C34-6D51-3D84-E0E7-19ABAEF150F1}"/>
              </a:ext>
            </a:extLst>
          </p:cNvPr>
          <p:cNvSpPr>
            <a:spLocks noGrp="1"/>
          </p:cNvSpPr>
          <p:nvPr/>
        </p:nvSpPr>
        <p:spPr>
          <a:xfrm>
            <a:off x="3495675" y="4227254"/>
            <a:ext cx="7810500" cy="0"/>
          </a:xfrm>
          <a:prstGeom prst="line">
            <a:avLst/>
          </a:prstGeom>
          <a:noFill/>
          <a:ln w="9525">
            <a:solidFill>
              <a:srgbClr val="D6DADF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DF448D-3FCF-6EE4-101A-02D516ED09F8}"/>
              </a:ext>
            </a:extLst>
          </p:cNvPr>
          <p:cNvSpPr>
            <a:spLocks noGrp="1"/>
          </p:cNvSpPr>
          <p:nvPr/>
        </p:nvSpPr>
        <p:spPr>
          <a:xfrm>
            <a:off x="3495675" y="4608254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F05032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1800" b="1" dirty="0">
                <a:solidFill>
                  <a:srgbClr val="F05032"/>
                </a:solidFill>
                <a:latin typeface="Consolas"/>
                <a:ea typeface="Consolas"/>
                <a:cs typeface="Consolas"/>
              </a:rPr>
              <a:t>3</a:t>
            </a:r>
            <a:endParaRPr sz="1800" b="1" dirty="0">
              <a:solidFill>
                <a:srgbClr val="F0503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FCEE51-AAB8-0501-A381-6D53F2005228}"/>
              </a:ext>
            </a:extLst>
          </p:cNvPr>
          <p:cNvSpPr>
            <a:spLocks noGrp="1"/>
          </p:cNvSpPr>
          <p:nvPr/>
        </p:nvSpPr>
        <p:spPr>
          <a:xfrm>
            <a:off x="4210050" y="4560629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Git Logo</a:t>
            </a:r>
            <a:endParaRPr sz="2100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직사각형 29">
            <a:hlinkClick r:id="rId5"/>
            <a:extLst>
              <a:ext uri="{FF2B5EF4-FFF2-40B4-BE49-F238E27FC236}">
                <a16:creationId xmlns:a16="http://schemas.microsoft.com/office/drawing/2014/main" id="{75733B9C-7C35-DFAF-CAD9-1EF519F6FCC2}"/>
              </a:ext>
            </a:extLst>
          </p:cNvPr>
          <p:cNvSpPr>
            <a:spLocks noGrp="1"/>
          </p:cNvSpPr>
          <p:nvPr/>
        </p:nvSpPr>
        <p:spPr>
          <a:xfrm>
            <a:off x="4210050" y="5465504"/>
            <a:ext cx="6762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>
              <a:defRPr sz="17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lang="ko-KR" altLang="en-US" dirty="0"/>
              <a:t>https://git-scm.com/community/logos</a:t>
            </a:r>
          </a:p>
          <a:p>
            <a:pPr algn="l">
              <a:defRPr sz="17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endParaRPr sz="1725" b="0" dirty="0">
              <a:solidFill>
                <a:srgbClr val="4B556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C4F8B0-0711-075C-84F1-D619DE41E547}"/>
              </a:ext>
            </a:extLst>
          </p:cNvPr>
          <p:cNvSpPr>
            <a:spLocks noGrp="1"/>
          </p:cNvSpPr>
          <p:nvPr/>
        </p:nvSpPr>
        <p:spPr>
          <a:xfrm>
            <a:off x="4210050" y="4989253"/>
            <a:ext cx="6762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Git </a:t>
            </a:r>
            <a:r>
              <a:rPr lang="ko-KR" altLang="en-US" sz="1575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로고 이미지</a:t>
            </a:r>
            <a:endParaRPr sz="1575" b="0" dirty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920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8EED7597-9407-43D8-8FB1-83C54008A9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D9DDE2"/>
            </a:solidFill>
          </a:ln>
        </p:spPr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AFA9AF0-E59C-4ACE-9FCF-BDEADD3F7AE0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2E4E7"/>
            </a:solidFill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5470A9-0FD1-4C6C-8968-471BA1232D4B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87" lnSpcReduction="10000"/>
          </a:bodyPr>
          <a:lstStyle/>
          <a:p>
            <a:pPr algn="l">
              <a:defRPr sz="975" b="1">
                <a:solidFill>
                  <a:srgbClr val="1F232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GIT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F93207-E89C-4908-82E3-9D6DA251D008}"/>
              </a:ext>
            </a:extLst>
          </p:cNvPr>
          <p:cNvSpPr>
            <a:spLocks noGrp="1"/>
          </p:cNvSpPr>
          <p:nvPr/>
        </p:nvSpPr>
        <p:spPr>
          <a:xfrm>
            <a:off x="323850" y="64770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636" lnSpcReduction="20000"/>
          </a:bodyPr>
          <a:lstStyle/>
          <a:p>
            <a:pPr algn="l">
              <a:defRPr sz="825" b="0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8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825" b="0" dirty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2</a:t>
            </a:r>
            <a:endParaRPr sz="825" b="0" dirty="0">
              <a:solidFill>
                <a:srgbClr val="4B556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70322A-9341-4ED5-95AB-D3C975CBFA7A}"/>
              </a:ext>
            </a:extLst>
          </p:cNvPr>
          <p:cNvSpPr>
            <a:spLocks noGrp="1"/>
          </p:cNvSpPr>
          <p:nvPr/>
        </p:nvSpPr>
        <p:spPr>
          <a:xfrm>
            <a:off x="10572750" y="171450"/>
            <a:ext cx="1238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10000"/>
          </a:bodyPr>
          <a:lstStyle/>
          <a:p>
            <a:pPr algn="r">
              <a:defRPr sz="750" b="1">
                <a:solidFill>
                  <a:srgbClr val="4B5563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PRESENTATION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8C93F6-BFCF-4C52-AC5B-84419937B536}"/>
              </a:ext>
            </a:extLst>
          </p:cNvPr>
          <p:cNvSpPr>
            <a:spLocks noGrp="1"/>
          </p:cNvSpPr>
          <p:nvPr/>
        </p:nvSpPr>
        <p:spPr>
          <a:xfrm>
            <a:off x="3857625" y="2619375"/>
            <a:ext cx="68580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54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733558-BB41-4826-9FFF-CEB8409B00A8}"/>
              </a:ext>
            </a:extLst>
          </p:cNvPr>
          <p:cNvSpPr>
            <a:spLocks noGrp="1"/>
          </p:cNvSpPr>
          <p:nvPr/>
        </p:nvSpPr>
        <p:spPr>
          <a:xfrm>
            <a:off x="3905250" y="3876675"/>
            <a:ext cx="1428750" cy="7620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</p:sp>
      <p:sp>
        <p:nvSpPr>
          <p:cNvPr id="13" name="직사각형 12">
            <a:hlinkClick r:id="rId3"/>
            <a:extLst>
              <a:ext uri="{FF2B5EF4-FFF2-40B4-BE49-F238E27FC236}">
                <a16:creationId xmlns:a16="http://schemas.microsoft.com/office/drawing/2014/main" id="{67FBA594-1909-4F24-A08E-27AE9718F6CD}"/>
              </a:ext>
            </a:extLst>
          </p:cNvPr>
          <p:cNvSpPr>
            <a:spLocks noGrp="1"/>
          </p:cNvSpPr>
          <p:nvPr/>
        </p:nvSpPr>
        <p:spPr>
          <a:xfrm>
            <a:off x="3854161" y="4210050"/>
            <a:ext cx="2543170" cy="37060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540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lang="ko-KR" altLang="en-US" sz="2000" b="1" dirty="0">
                <a:solidFill>
                  <a:srgbClr val="1F2328"/>
                </a:solidFill>
                <a:latin typeface="Arial"/>
                <a:ea typeface="Arial"/>
                <a:cs typeface="Arial"/>
              </a:rPr>
              <a:t>더 많은 명령어 보기</a:t>
            </a:r>
            <a:endParaRPr sz="2000" b="1" dirty="0">
              <a:solidFill>
                <a:srgbClr val="1F232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85707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541E25-7DB9-4D84-B8ED-7588C7ADF4F0}">
  <we:reference id="wa200007130" version="1.0.0.1" store="ko-KR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1061</Words>
  <Application>Microsoft Office PowerPoint</Application>
  <DocSecurity>0</DocSecurity>
  <PresentationFormat>와이드스크린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Noto Sans Mono CJK KR</vt:lpstr>
      <vt:lpstr>Malgun Gothic</vt:lpstr>
      <vt:lpstr>Arial</vt:lpstr>
      <vt:lpstr>Calibri</vt:lpstr>
      <vt:lpstr>Consolas</vt:lpstr>
      <vt:lpstr>Georgia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현빈 정</cp:lastModifiedBy>
  <cp:revision>7</cp:revision>
  <dcterms:created xsi:type="dcterms:W3CDTF">2026-09-17T12:23:40Z</dcterms:created>
  <dcterms:modified xsi:type="dcterms:W3CDTF">2026-09-17T15:32:09Z</dcterms:modified>
</cp:coreProperties>
</file>